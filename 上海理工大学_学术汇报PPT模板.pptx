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9"/>
          <c:y val="0.05"/>
          <c:w val="0.89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示例指标</c:v>
                </c:pt>
              </c:strCache>
            </c:strRef>
          </c:tx>
          <c:spPr>
            <a:solidFill>
              <a:srgbClr val="B51C3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8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项目 A</c:v>
                  </c:pt>
                  <c:pt idx="1">
                    <c:v>项目 B</c:v>
                  </c:pt>
                  <c:pt idx="2">
                    <c:v>项目 C</c:v>
                  </c:pt>
                  <c:pt idx="3">
                    <c:v>项目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62</c:v>
                </c:pt>
                <c:pt idx="2">
                  <c:v>76</c:v>
                </c:pt>
                <c:pt idx="3">
                  <c:v>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2028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8738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9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873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FFF9FA"/>
          </a:solidFill>
          <a:ln w="12700">
            <a:solidFill>
              <a:srgbClr val="FFF9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42648" y="0"/>
            <a:ext cx="146304" cy="6858000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74152" y="667512"/>
            <a:ext cx="3950208" cy="0"/>
          </a:xfrm>
          <a:prstGeom prst="line">
            <a:avLst/>
          </a:prstGeom>
          <a:noFill/>
          <a:ln w="12700">
            <a:solidFill>
              <a:srgbClr val="F0DD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1088136"/>
            <a:ext cx="4251960" cy="4251960"/>
          </a:xfrm>
          <a:prstGeom prst="ellipse">
            <a:avLst/>
          </a:prstGeom>
          <a:solidFill>
            <a:srgbClr val="FFF9FA">
              <a:alpha val="0"/>
            </a:srgbClr>
          </a:solidFill>
          <a:ln w="14605">
            <a:solidFill>
              <a:srgbClr val="EDC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1682496"/>
            <a:ext cx="3063240" cy="3063240"/>
          </a:xfrm>
          <a:prstGeom prst="ellipse">
            <a:avLst/>
          </a:prstGeom>
          <a:solidFill>
            <a:srgbClr val="F7E8EC">
              <a:alpha val="90000"/>
            </a:srgbClr>
          </a:solidFill>
          <a:ln w="11430">
            <a:solidFill>
              <a:srgbClr val="EFD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2377440"/>
            <a:ext cx="1691640" cy="1691640"/>
          </a:xfrm>
          <a:prstGeom prst="ellipse">
            <a:avLst/>
          </a:prstGeom>
          <a:solidFill>
            <a:srgbClr val="F4DDE3">
              <a:alpha val="75000"/>
            </a:srgbClr>
          </a:solidFill>
          <a:ln w="12700">
            <a:solidFill>
              <a:srgbClr val="F4DDE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1592" y="2898648"/>
            <a:ext cx="603504" cy="603504"/>
          </a:xfrm>
          <a:prstGeom prst="ellipse">
            <a:avLst/>
          </a:prstGeom>
          <a:solidFill>
            <a:srgbClr val="B51C38">
              <a:alpha val="90000"/>
            </a:srgbClr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21624" y="4983480"/>
            <a:ext cx="3337560" cy="0"/>
          </a:xfrm>
          <a:prstGeom prst="line">
            <a:avLst/>
          </a:prstGeom>
          <a:noFill/>
          <a:ln w="12700">
            <a:solidFill>
              <a:srgbClr val="EBD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13648" y="50200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spc="400" kern="0" dirty="0">
                <a:solidFill>
                  <a:srgbClr val="E1B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8668512" y="5824728"/>
            <a:ext cx="3264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1906  —  UNIVERSITY</a:t>
            </a:r>
            <a:endParaRPr lang="en-US" sz="900" dirty="0"/>
          </a:p>
        </p:txBody>
      </p:sp>
      <p:pic>
        <p:nvPicPr>
          <p:cNvPr id="13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66344"/>
            <a:ext cx="621792" cy="6217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72184" y="5120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490472" y="886968"/>
            <a:ext cx="5806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7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 FOR SCIENCE AND TECHNOLOGY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" y="1965960"/>
            <a:ext cx="2907792" cy="356616"/>
          </a:xfrm>
          <a:prstGeom prst="roundRect">
            <a:avLst>
              <a:gd name="adj" fmla="val 20513"/>
            </a:avLst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2057400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911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学术汇报  /  ACADEMIC REPORT</a:t>
            </a:r>
            <a:endParaRPr lang="en-US" sz="1110" dirty="0"/>
          </a:p>
        </p:txBody>
      </p:sp>
      <p:sp>
        <p:nvSpPr>
          <p:cNvPr id="18" name="Text 15"/>
          <p:cNvSpPr/>
          <p:nvPr/>
        </p:nvSpPr>
        <p:spPr>
          <a:xfrm>
            <a:off x="740664" y="2734056"/>
            <a:ext cx="7132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学术汇报标题</a:t>
            </a:r>
            <a:endParaRPr lang="en-US" sz="4300" dirty="0"/>
          </a:p>
        </p:txBody>
      </p:sp>
      <p:sp>
        <p:nvSpPr>
          <p:cNvPr id="19" name="Text 16"/>
          <p:cNvSpPr/>
          <p:nvPr/>
        </p:nvSpPr>
        <p:spPr>
          <a:xfrm>
            <a:off x="758952" y="3675888"/>
            <a:ext cx="6812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在这里填写报告副标题或研究方向说明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58952" y="4361688"/>
            <a:ext cx="749808" cy="50292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8952" y="50932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58952" y="5394960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[姓名]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2706624" y="5093208"/>
            <a:ext cx="0" cy="740664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80944" y="509320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院系 / 专业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2980944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[单位名称]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5824728" y="5093208"/>
            <a:ext cx="0" cy="740664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99048" y="5093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汇报日期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099048" y="539496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202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[YYYY.MM.DD]</a:t>
            </a:r>
            <a:endParaRPr lang="en-US" sz="1620" dirty="0"/>
          </a:p>
        </p:txBody>
      </p:sp>
      <p:sp>
        <p:nvSpPr>
          <p:cNvPr id="29" name="Text 26"/>
          <p:cNvSpPr/>
          <p:nvPr/>
        </p:nvSpPr>
        <p:spPr>
          <a:xfrm>
            <a:off x="758952" y="6528816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·  PRESENTATION TEMPLATE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/ AGENDA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可按实际汇报结构修改章节名称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8952" y="1892808"/>
            <a:ext cx="5138928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E9E4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" y="1892808"/>
            <a:ext cx="59436" cy="1673352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51560" y="211226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7" name="Shape 14"/>
          <p:cNvSpPr/>
          <p:nvPr/>
        </p:nvSpPr>
        <p:spPr>
          <a:xfrm>
            <a:off x="2212848" y="2194560"/>
            <a:ext cx="0" cy="1024128"/>
          </a:xfrm>
          <a:prstGeom prst="line">
            <a:avLst/>
          </a:prstGeom>
          <a:noFill/>
          <a:ln w="12700">
            <a:solidFill>
              <a:srgbClr val="E9DE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05456" y="21854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2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2120" dirty="0"/>
          </a:p>
        </p:txBody>
      </p:sp>
      <p:sp>
        <p:nvSpPr>
          <p:cNvPr id="19" name="Text 16"/>
          <p:cNvSpPr/>
          <p:nvPr/>
        </p:nvSpPr>
        <p:spPr>
          <a:xfrm>
            <a:off x="2532888" y="284378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研究缘起 · 问题定义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81928" y="1892808"/>
            <a:ext cx="5138928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E9E4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81928" y="1892808"/>
            <a:ext cx="59436" cy="1673352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74536" y="211226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23" name="Shape 20"/>
          <p:cNvSpPr/>
          <p:nvPr/>
        </p:nvSpPr>
        <p:spPr>
          <a:xfrm>
            <a:off x="7735824" y="2194560"/>
            <a:ext cx="0" cy="1024128"/>
          </a:xfrm>
          <a:prstGeom prst="line">
            <a:avLst/>
          </a:prstGeom>
          <a:noFill/>
          <a:ln w="12700">
            <a:solidFill>
              <a:srgbClr val="E9DE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28432" y="2185416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2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</a:t>
            </a:r>
            <a:endParaRPr lang="en-US" sz="2120" dirty="0"/>
          </a:p>
        </p:txBody>
      </p:sp>
      <p:sp>
        <p:nvSpPr>
          <p:cNvPr id="25" name="Text 22"/>
          <p:cNvSpPr/>
          <p:nvPr/>
        </p:nvSpPr>
        <p:spPr>
          <a:xfrm>
            <a:off x="8055864" y="2843784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思路框架 · 实施流程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8952" y="4105656"/>
            <a:ext cx="5138928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E9E4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8952" y="4105656"/>
            <a:ext cx="59436" cy="1673352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51560" y="432511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29" name="Shape 26"/>
          <p:cNvSpPr/>
          <p:nvPr/>
        </p:nvSpPr>
        <p:spPr>
          <a:xfrm>
            <a:off x="2212848" y="4407408"/>
            <a:ext cx="0" cy="1024128"/>
          </a:xfrm>
          <a:prstGeom prst="line">
            <a:avLst/>
          </a:prstGeom>
          <a:noFill/>
          <a:ln w="12700">
            <a:solidFill>
              <a:srgbClr val="E9DE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05456" y="4398264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2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结果与讨论</a:t>
            </a:r>
            <a:endParaRPr lang="en-US" sz="2120" dirty="0"/>
          </a:p>
        </p:txBody>
      </p:sp>
      <p:sp>
        <p:nvSpPr>
          <p:cNvPr id="31" name="Text 28"/>
          <p:cNvSpPr/>
          <p:nvPr/>
        </p:nvSpPr>
        <p:spPr>
          <a:xfrm>
            <a:off x="2532888" y="505663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 · 关键发现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281928" y="4105656"/>
            <a:ext cx="5138928" cy="1673352"/>
          </a:xfrm>
          <a:prstGeom prst="roundRect">
            <a:avLst>
              <a:gd name="adj" fmla="val 4372"/>
            </a:avLst>
          </a:prstGeom>
          <a:solidFill>
            <a:srgbClr val="FFFFFF"/>
          </a:solidFill>
          <a:ln w="9525">
            <a:solidFill>
              <a:srgbClr val="E9E4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81928" y="4105656"/>
            <a:ext cx="59436" cy="1673352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74536" y="4325112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35" name="Shape 32"/>
          <p:cNvSpPr/>
          <p:nvPr/>
        </p:nvSpPr>
        <p:spPr>
          <a:xfrm>
            <a:off x="7735824" y="4407408"/>
            <a:ext cx="0" cy="1024128"/>
          </a:xfrm>
          <a:prstGeom prst="line">
            <a:avLst/>
          </a:prstGeom>
          <a:noFill/>
          <a:ln w="12700">
            <a:solidFill>
              <a:srgbClr val="E9DE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28432" y="4398264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2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120" dirty="0"/>
          </a:p>
        </p:txBody>
      </p:sp>
      <p:sp>
        <p:nvSpPr>
          <p:cNvPr id="37" name="Text 34"/>
          <p:cNvSpPr/>
          <p:nvPr/>
        </p:nvSpPr>
        <p:spPr>
          <a:xfrm>
            <a:off x="8055864" y="5056632"/>
            <a:ext cx="3063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研究结论 · 后续计划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1152C"/>
          </a:solidFill>
          <a:ln w="12700">
            <a:solidFill>
              <a:srgbClr val="91152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CD4660"/>
          </a:solidFill>
          <a:ln w="12700">
            <a:solidFill>
              <a:srgbClr val="CD46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6992" y="-1115568"/>
            <a:ext cx="6172200" cy="6172200"/>
          </a:xfrm>
          <a:prstGeom prst="ellipse">
            <a:avLst/>
          </a:prstGeom>
          <a:solidFill>
            <a:srgbClr val="91152C">
              <a:alpha val="0"/>
            </a:srgbClr>
          </a:solidFill>
          <a:ln w="20955">
            <a:solidFill>
              <a:srgbClr val="C8556D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0" y="-365760"/>
            <a:ext cx="4709160" cy="4709160"/>
          </a:xfrm>
          <a:prstGeom prst="ellipse">
            <a:avLst/>
          </a:prstGeom>
          <a:solidFill>
            <a:srgbClr val="91152C">
              <a:alpha val="0"/>
            </a:srgbClr>
          </a:solidFill>
          <a:ln w="17780">
            <a:solidFill>
              <a:srgbClr val="C8556D">
                <a:alpha val="4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00032" y="365760"/>
            <a:ext cx="3246120" cy="3246120"/>
          </a:xfrm>
          <a:prstGeom prst="ellipse">
            <a:avLst/>
          </a:prstGeom>
          <a:solidFill>
            <a:srgbClr val="91152C">
              <a:alpha val="0"/>
            </a:srgbClr>
          </a:solidFill>
          <a:ln w="15240">
            <a:solidFill>
              <a:srgbClr val="C8556D">
                <a:alpha val="3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91272" y="3063240"/>
            <a:ext cx="388620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0" b="1" dirty="0">
                <a:solidFill>
                  <a:srgbClr val="A92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700" dirty="0"/>
          </a:p>
        </p:txBody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493776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45336" y="640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18836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b="1" spc="300" kern="0" dirty="0">
                <a:solidFill>
                  <a:srgbClr val="E9B9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01</a:t>
            </a:r>
            <a:endParaRPr lang="en-US" sz="1330" dirty="0"/>
          </a:p>
        </p:txBody>
      </p:sp>
      <p:sp>
        <p:nvSpPr>
          <p:cNvPr id="11" name="Text 8"/>
          <p:cNvSpPr/>
          <p:nvPr/>
        </p:nvSpPr>
        <p:spPr>
          <a:xfrm>
            <a:off x="813816" y="2496312"/>
            <a:ext cx="66294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4700" dirty="0"/>
          </a:p>
        </p:txBody>
      </p:sp>
      <p:sp>
        <p:nvSpPr>
          <p:cNvPr id="12" name="Shape 9"/>
          <p:cNvSpPr/>
          <p:nvPr/>
        </p:nvSpPr>
        <p:spPr>
          <a:xfrm>
            <a:off x="850392" y="3776472"/>
            <a:ext cx="1133856" cy="0"/>
          </a:xfrm>
          <a:prstGeom prst="line">
            <a:avLst/>
          </a:prstGeom>
          <a:noFill/>
          <a:ln w="38100">
            <a:solidFill>
              <a:srgbClr val="E5A6B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4187952"/>
            <a:ext cx="6537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30" dirty="0">
                <a:solidFill>
                  <a:srgbClr val="F4D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在这里填写本章节的核心观点或一句话导语</a:t>
            </a:r>
            <a:endParaRPr lang="en-US" sz="1830" dirty="0"/>
          </a:p>
        </p:txBody>
      </p:sp>
      <p:sp>
        <p:nvSpPr>
          <p:cNvPr id="14" name="Text 11"/>
          <p:cNvSpPr/>
          <p:nvPr/>
        </p:nvSpPr>
        <p:spPr>
          <a:xfrm>
            <a:off x="850392" y="6437376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spc="80" kern="0" dirty="0">
                <a:solidFill>
                  <a:srgbClr val="DF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 FOR SCIENCE AND TECHNOLOGY</a:t>
            </a:r>
            <a:endParaRPr lang="en-US" sz="910" dirty="0"/>
          </a:p>
        </p:txBody>
      </p:sp>
      <p:sp>
        <p:nvSpPr>
          <p:cNvPr id="15" name="Text 12"/>
          <p:cNvSpPr/>
          <p:nvPr/>
        </p:nvSpPr>
        <p:spPr>
          <a:xfrm>
            <a:off x="10469880" y="64282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EECA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11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/ HIERARCHY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标准内容页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适合概念介绍、研究背景、核心观点说明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8952" y="1783080"/>
            <a:ext cx="3236976" cy="4343400"/>
          </a:xfrm>
          <a:prstGeom prst="roundRect">
            <a:avLst>
              <a:gd name="adj" fmla="val 2260"/>
            </a:avLst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4128" y="2093976"/>
            <a:ext cx="438912" cy="4114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33272" y="2331720"/>
            <a:ext cx="2587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880360"/>
            <a:ext cx="273405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在这里突出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本页的核心结论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1033272" y="5257800"/>
            <a:ext cx="2734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一页只聚焦一个主题，让听众迅速抓住重点。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4343400" y="1783080"/>
            <a:ext cx="70957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36008" y="2084832"/>
            <a:ext cx="676656" cy="676656"/>
          </a:xfrm>
          <a:prstGeom prst="ellipse">
            <a:avLst/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18304" y="2240280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5522976" y="2020824"/>
            <a:ext cx="5394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第一层观点</a:t>
            </a:r>
            <a:endParaRPr lang="en-US" sz="1930" dirty="0"/>
          </a:p>
        </p:txBody>
      </p:sp>
      <p:sp>
        <p:nvSpPr>
          <p:cNvPr id="23" name="Text 20"/>
          <p:cNvSpPr/>
          <p:nvPr/>
        </p:nvSpPr>
        <p:spPr>
          <a:xfrm>
            <a:off x="5532120" y="2569464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填写本段的主要内容，建议用一至两句话清晰表达。</a:t>
            </a:r>
            <a:endParaRPr lang="en-US" sz="1280" dirty="0"/>
          </a:p>
        </p:txBody>
      </p:sp>
      <p:sp>
        <p:nvSpPr>
          <p:cNvPr id="24" name="Shape 21"/>
          <p:cNvSpPr/>
          <p:nvPr/>
        </p:nvSpPr>
        <p:spPr>
          <a:xfrm>
            <a:off x="4343400" y="3282696"/>
            <a:ext cx="70957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36008" y="3584448"/>
            <a:ext cx="676656" cy="676656"/>
          </a:xfrm>
          <a:prstGeom prst="ellipse">
            <a:avLst/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373989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50" dirty="0"/>
          </a:p>
        </p:txBody>
      </p:sp>
      <p:sp>
        <p:nvSpPr>
          <p:cNvPr id="27" name="Text 24"/>
          <p:cNvSpPr/>
          <p:nvPr/>
        </p:nvSpPr>
        <p:spPr>
          <a:xfrm>
            <a:off x="5522976" y="3520440"/>
            <a:ext cx="5394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第二层观点</a:t>
            </a:r>
            <a:endParaRPr lang="en-US" sz="1930" dirty="0"/>
          </a:p>
        </p:txBody>
      </p:sp>
      <p:sp>
        <p:nvSpPr>
          <p:cNvPr id="28" name="Text 25"/>
          <p:cNvSpPr/>
          <p:nvPr/>
        </p:nvSpPr>
        <p:spPr>
          <a:xfrm>
            <a:off x="5532120" y="406908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用事实、案例或图示说明核心观点，避免大段文字。</a:t>
            </a:r>
            <a:endParaRPr lang="en-US" sz="1280" dirty="0"/>
          </a:p>
        </p:txBody>
      </p:sp>
      <p:sp>
        <p:nvSpPr>
          <p:cNvPr id="29" name="Shape 26"/>
          <p:cNvSpPr/>
          <p:nvPr/>
        </p:nvSpPr>
        <p:spPr>
          <a:xfrm>
            <a:off x="4343400" y="4782312"/>
            <a:ext cx="709574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36008" y="5084064"/>
            <a:ext cx="676656" cy="676656"/>
          </a:xfrm>
          <a:prstGeom prst="ellipse">
            <a:avLst/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18304" y="5239512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50" dirty="0"/>
          </a:p>
        </p:txBody>
      </p:sp>
      <p:sp>
        <p:nvSpPr>
          <p:cNvPr id="32" name="Text 29"/>
          <p:cNvSpPr/>
          <p:nvPr/>
        </p:nvSpPr>
        <p:spPr>
          <a:xfrm>
            <a:off x="5522976" y="5020056"/>
            <a:ext cx="5394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第三层观点</a:t>
            </a:r>
            <a:endParaRPr lang="en-US" sz="1930" dirty="0"/>
          </a:p>
        </p:txBody>
      </p:sp>
      <p:sp>
        <p:nvSpPr>
          <p:cNvPr id="33" name="Text 30"/>
          <p:cNvSpPr/>
          <p:nvPr/>
        </p:nvSpPr>
        <p:spPr>
          <a:xfrm>
            <a:off x="5532120" y="5568696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补充影响、价值或应用方向，形成完整表达。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/ COLUMNS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双栏对比页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适合方案选择、优劣分析与方法对比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8952" y="1773936"/>
            <a:ext cx="5193792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" y="1773936"/>
            <a:ext cx="5193792" cy="960120"/>
          </a:xfrm>
          <a:prstGeom prst="roundRect">
            <a:avLst>
              <a:gd name="adj" fmla="val 7619"/>
            </a:avLst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69848" y="2057400"/>
            <a:ext cx="64008" cy="365760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195681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4535424" y="21488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spc="10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1115568" y="3054096"/>
            <a:ext cx="137160" cy="137160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35608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2743200" y="2926080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填写对应的比较说明或关键要点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124712" y="3685032"/>
            <a:ext cx="444398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15568" y="4041648"/>
            <a:ext cx="137160" cy="137160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35608" y="3913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2743200" y="3913632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填写对应的比较说明或关键要点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124712" y="4672584"/>
            <a:ext cx="444398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5568" y="5029200"/>
            <a:ext cx="137160" cy="137160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35608" y="490118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2743200" y="4901184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填写对应的比较说明或关键要点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208776" y="1773936"/>
            <a:ext cx="5193792" cy="4489704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08776" y="1773936"/>
            <a:ext cx="5193792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19672" y="2057400"/>
            <a:ext cx="64008" cy="365760"/>
          </a:xfrm>
          <a:prstGeom prst="rect">
            <a:avLst/>
          </a:prstGeom>
          <a:solidFill>
            <a:srgbClr val="202837"/>
          </a:solidFill>
          <a:ln w="12700">
            <a:solidFill>
              <a:srgbClr val="202837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29984" y="195681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</a:t>
            </a:r>
            <a:endParaRPr lang="en-US" sz="2350" dirty="0"/>
          </a:p>
        </p:txBody>
      </p:sp>
      <p:sp>
        <p:nvSpPr>
          <p:cNvPr id="34" name="Text 31"/>
          <p:cNvSpPr/>
          <p:nvPr/>
        </p:nvSpPr>
        <p:spPr>
          <a:xfrm>
            <a:off x="9985248" y="21488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spc="100" kern="0" dirty="0">
                <a:solidFill>
                  <a:srgbClr val="202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6565392" y="3054096"/>
            <a:ext cx="137160" cy="137160"/>
          </a:xfrm>
          <a:prstGeom prst="ellipse">
            <a:avLst/>
          </a:prstGeom>
          <a:solidFill>
            <a:srgbClr val="202837"/>
          </a:solidFill>
          <a:ln w="12700">
            <a:solidFill>
              <a:srgbClr val="202837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85432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8193024" y="2926080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填写对应的比较说明或关键要点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574536" y="3685032"/>
            <a:ext cx="444398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65392" y="4041648"/>
            <a:ext cx="137160" cy="137160"/>
          </a:xfrm>
          <a:prstGeom prst="ellipse">
            <a:avLst/>
          </a:prstGeom>
          <a:solidFill>
            <a:srgbClr val="202837"/>
          </a:solidFill>
          <a:ln w="12700">
            <a:solidFill>
              <a:srgbClr val="202837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85432" y="39136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实施路径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8193024" y="3913632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填写对应的比较说明或关键要点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574536" y="4672584"/>
            <a:ext cx="4443984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65392" y="5029200"/>
            <a:ext cx="137160" cy="137160"/>
          </a:xfrm>
          <a:prstGeom prst="ellipse">
            <a:avLst/>
          </a:prstGeom>
          <a:solidFill>
            <a:srgbClr val="202837"/>
          </a:solidFill>
          <a:ln w="12700">
            <a:solidFill>
              <a:srgbClr val="202837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85432" y="490118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8193024" y="4901184"/>
            <a:ext cx="2880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填写对应的比较说明或关键要点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/ IMAGE &amp; 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图文混排页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适合实验照片、结构示意图、场景展示等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11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" y="1938528"/>
            <a:ext cx="5074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图文结合，让信息更直观</a:t>
            </a:r>
            <a:endParaRPr lang="en-US" sz="2530" dirty="0"/>
          </a:p>
        </p:txBody>
      </p:sp>
      <p:sp>
        <p:nvSpPr>
          <p:cNvPr id="15" name="Text 12"/>
          <p:cNvSpPr/>
          <p:nvPr/>
        </p:nvSpPr>
        <p:spPr>
          <a:xfrm>
            <a:off x="795528" y="2798064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在左侧概述图片中的内容与关键价值。</a:t>
            </a:r>
            <a:endParaRPr lang="en-US" sz="16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文本建议控制在三至五行，强调重要信息。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32104" y="4233672"/>
            <a:ext cx="128016" cy="128016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4105656"/>
            <a:ext cx="4535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要点一：填写需要关注的信息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832104" y="4800600"/>
            <a:ext cx="128016" cy="128016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3856" y="4672584"/>
            <a:ext cx="4535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要点二：说明图示或场景含义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832104" y="5367528"/>
            <a:ext cx="128016" cy="128016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33856" y="5239512"/>
            <a:ext cx="4535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要点三：总结得到的结论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6089904" y="1773936"/>
            <a:ext cx="5340096" cy="4453128"/>
          </a:xfrm>
          <a:prstGeom prst="roundRect">
            <a:avLst>
              <a:gd name="adj" fmla="val 1643"/>
            </a:avLst>
          </a:prstGeom>
          <a:solidFill>
            <a:srgbClr val="F7F8FA"/>
          </a:solidFill>
          <a:ln w="15875">
            <a:solidFill>
              <a:srgbClr val="D9DE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72984" y="2770632"/>
            <a:ext cx="1764792" cy="120700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2860">
            <a:solidFill>
              <a:srgbClr val="BEC5C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15984" y="3008376"/>
            <a:ext cx="219456" cy="219456"/>
          </a:xfrm>
          <a:prstGeom prst="ellipse">
            <a:avLst/>
          </a:prstGeom>
          <a:solidFill>
            <a:srgbClr val="E5A6B4"/>
          </a:solidFill>
          <a:ln w="12700">
            <a:solidFill>
              <a:srgbClr val="E5A6B4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01584" y="3739896"/>
            <a:ext cx="493776" cy="-512064"/>
          </a:xfrm>
          <a:prstGeom prst="line">
            <a:avLst/>
          </a:prstGeom>
          <a:noFill/>
          <a:ln w="22860">
            <a:solidFill>
              <a:srgbClr val="9FA7B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0" y="3227832"/>
            <a:ext cx="365760" cy="356616"/>
          </a:xfrm>
          <a:prstGeom prst="line">
            <a:avLst/>
          </a:prstGeom>
          <a:noFill/>
          <a:ln w="22860">
            <a:solidFill>
              <a:srgbClr val="9FA7B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61120" y="3584448"/>
            <a:ext cx="374904" cy="-265176"/>
          </a:xfrm>
          <a:prstGeom prst="line">
            <a:avLst/>
          </a:prstGeom>
          <a:noFill/>
          <a:ln w="22860">
            <a:solidFill>
              <a:srgbClr val="9FA7B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36024" y="3319272"/>
            <a:ext cx="164592" cy="146304"/>
          </a:xfrm>
          <a:prstGeom prst="line">
            <a:avLst/>
          </a:prstGeom>
          <a:noFill/>
          <a:ln w="22860">
            <a:solidFill>
              <a:srgbClr val="9FA7B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13448" y="427024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/ 图示区域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492240" y="4800600"/>
            <a:ext cx="4590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可替换为照片、实验图、产品示意图等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/ KEY POINTS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三点式内容页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适合总结三个特点、优势或研究发现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68096" y="1883664"/>
            <a:ext cx="3310128" cy="4215384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8096" y="1883664"/>
            <a:ext cx="3310128" cy="100584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2258568"/>
            <a:ext cx="2404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E8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900" dirty="0"/>
          </a:p>
        </p:txBody>
      </p:sp>
      <p:sp>
        <p:nvSpPr>
          <p:cNvPr id="17" name="Text 14"/>
          <p:cNvSpPr/>
          <p:nvPr/>
        </p:nvSpPr>
        <p:spPr>
          <a:xfrm>
            <a:off x="1033272" y="322783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核心特点一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1033272" y="3831336"/>
            <a:ext cx="26609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3272" y="4133088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用一句话概括本模块的重点内容。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033272" y="5084064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可填写主要依据、功能或价值说明。</a:t>
            </a:r>
            <a:endParaRPr lang="en-US" sz="1230" dirty="0"/>
          </a:p>
        </p:txBody>
      </p:sp>
      <p:sp>
        <p:nvSpPr>
          <p:cNvPr id="21" name="Shape 18"/>
          <p:cNvSpPr/>
          <p:nvPr/>
        </p:nvSpPr>
        <p:spPr>
          <a:xfrm>
            <a:off x="4471416" y="1883664"/>
            <a:ext cx="3310128" cy="4215384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71416" y="1883664"/>
            <a:ext cx="3310128" cy="100584"/>
          </a:xfrm>
          <a:prstGeom prst="rect">
            <a:avLst/>
          </a:prstGeom>
          <a:solidFill>
            <a:srgbClr val="202837"/>
          </a:solidFill>
          <a:ln w="12700">
            <a:solidFill>
              <a:srgbClr val="20283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27448" y="2258568"/>
            <a:ext cx="2404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CB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900" dirty="0"/>
          </a:p>
        </p:txBody>
      </p:sp>
      <p:sp>
        <p:nvSpPr>
          <p:cNvPr id="24" name="Text 21"/>
          <p:cNvSpPr/>
          <p:nvPr/>
        </p:nvSpPr>
        <p:spPr>
          <a:xfrm>
            <a:off x="4736592" y="322783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核心特点二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4736592" y="3831336"/>
            <a:ext cx="26609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36592" y="4133088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用清晰的结构解释这一关键特点。</a:t>
            </a:r>
            <a:endParaRPr lang="en-US" sz="1420" dirty="0"/>
          </a:p>
        </p:txBody>
      </p:sp>
      <p:sp>
        <p:nvSpPr>
          <p:cNvPr id="27" name="Text 24"/>
          <p:cNvSpPr/>
          <p:nvPr/>
        </p:nvSpPr>
        <p:spPr>
          <a:xfrm>
            <a:off x="4736592" y="5084064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可配合数据、事实或简短示例。</a:t>
            </a:r>
            <a:endParaRPr lang="en-US" sz="1230" dirty="0"/>
          </a:p>
        </p:txBody>
      </p:sp>
      <p:sp>
        <p:nvSpPr>
          <p:cNvPr id="28" name="Shape 25"/>
          <p:cNvSpPr/>
          <p:nvPr/>
        </p:nvSpPr>
        <p:spPr>
          <a:xfrm>
            <a:off x="8174736" y="1883664"/>
            <a:ext cx="3310128" cy="4215384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74736" y="1883664"/>
            <a:ext cx="3310128" cy="100584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30768" y="2258568"/>
            <a:ext cx="240487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E8B9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900" dirty="0"/>
          </a:p>
        </p:txBody>
      </p:sp>
      <p:sp>
        <p:nvSpPr>
          <p:cNvPr id="31" name="Text 28"/>
          <p:cNvSpPr/>
          <p:nvPr/>
        </p:nvSpPr>
        <p:spPr>
          <a:xfrm>
            <a:off x="8439912" y="3227832"/>
            <a:ext cx="2834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核心特点三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8439912" y="3831336"/>
            <a:ext cx="2660904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39912" y="4133088"/>
            <a:ext cx="27797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写下第三个角度或预期成果。</a:t>
            </a:r>
            <a:endParaRPr lang="en-US" sz="1420" dirty="0"/>
          </a:p>
        </p:txBody>
      </p:sp>
      <p:sp>
        <p:nvSpPr>
          <p:cNvPr id="34" name="Text 31"/>
          <p:cNvSpPr/>
          <p:nvPr/>
        </p:nvSpPr>
        <p:spPr>
          <a:xfrm>
            <a:off x="8439912" y="5084064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确保每个模块之间保持逻辑并列。</a:t>
            </a:r>
            <a:endParaRPr lang="en-US" sz="12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/ 4 STEPS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流程步骤页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适合方法流程、项目计划和研究路线展示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11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45920" y="2514600"/>
            <a:ext cx="8851392" cy="0"/>
          </a:xfrm>
          <a:prstGeom prst="line">
            <a:avLst/>
          </a:prstGeom>
          <a:noFill/>
          <a:ln w="27305">
            <a:solidFill>
              <a:srgbClr val="DADD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73936" y="2276856"/>
            <a:ext cx="475488" cy="47548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51C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929384" y="2432304"/>
            <a:ext cx="164592" cy="164592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8952" y="2907792"/>
            <a:ext cx="2542032" cy="2706624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7552" y="315468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1005840" y="383133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930" dirty="0"/>
          </a:p>
        </p:txBody>
      </p:sp>
      <p:sp>
        <p:nvSpPr>
          <p:cNvPr id="20" name="Text 17"/>
          <p:cNvSpPr/>
          <p:nvPr/>
        </p:nvSpPr>
        <p:spPr>
          <a:xfrm>
            <a:off x="1005840" y="442569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明确需求、目标与约束条件。</a:t>
            </a:r>
            <a:endParaRPr lang="en-US" sz="1290" dirty="0"/>
          </a:p>
        </p:txBody>
      </p:sp>
      <p:sp>
        <p:nvSpPr>
          <p:cNvPr id="21" name="Text 18"/>
          <p:cNvSpPr/>
          <p:nvPr/>
        </p:nvSpPr>
        <p:spPr>
          <a:xfrm>
            <a:off x="1005840" y="5303520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4562856" y="2276856"/>
            <a:ext cx="475488" cy="47548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51C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2432304"/>
            <a:ext cx="164592" cy="164592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47872" y="2907792"/>
            <a:ext cx="2542032" cy="2706624"/>
          </a:xfrm>
          <a:prstGeom prst="roundRect">
            <a:avLst>
              <a:gd name="adj" fmla="val 2878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76472" y="315468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26" name="Text 23"/>
          <p:cNvSpPr/>
          <p:nvPr/>
        </p:nvSpPr>
        <p:spPr>
          <a:xfrm>
            <a:off x="3794760" y="383133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930" dirty="0"/>
          </a:p>
        </p:txBody>
      </p:sp>
      <p:sp>
        <p:nvSpPr>
          <p:cNvPr id="27" name="Text 24"/>
          <p:cNvSpPr/>
          <p:nvPr/>
        </p:nvSpPr>
        <p:spPr>
          <a:xfrm>
            <a:off x="3794760" y="442569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给出结构框架与实现思路。</a:t>
            </a:r>
            <a:endParaRPr lang="en-US" sz="1290" dirty="0"/>
          </a:p>
        </p:txBody>
      </p:sp>
      <p:sp>
        <p:nvSpPr>
          <p:cNvPr id="28" name="Text 25"/>
          <p:cNvSpPr/>
          <p:nvPr/>
        </p:nvSpPr>
        <p:spPr>
          <a:xfrm>
            <a:off x="3794760" y="5303520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7351776" y="2276856"/>
            <a:ext cx="475488" cy="47548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51C3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07224" y="2432304"/>
            <a:ext cx="164592" cy="164592"/>
          </a:xfrm>
          <a:prstGeom prst="ellipse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36792" y="2907792"/>
            <a:ext cx="2542032" cy="2706624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65392" y="315468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33" name="Text 30"/>
          <p:cNvSpPr/>
          <p:nvPr/>
        </p:nvSpPr>
        <p:spPr>
          <a:xfrm>
            <a:off x="6583680" y="383133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执行验证</a:t>
            </a:r>
            <a:endParaRPr lang="en-US" sz="1930" dirty="0"/>
          </a:p>
        </p:txBody>
      </p:sp>
      <p:sp>
        <p:nvSpPr>
          <p:cNvPr id="34" name="Text 31"/>
          <p:cNvSpPr/>
          <p:nvPr/>
        </p:nvSpPr>
        <p:spPr>
          <a:xfrm>
            <a:off x="6583680" y="442569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按照计划开展实施和测试。</a:t>
            </a:r>
            <a:endParaRPr lang="en-US" sz="1290" dirty="0"/>
          </a:p>
        </p:txBody>
      </p:sp>
      <p:sp>
        <p:nvSpPr>
          <p:cNvPr id="35" name="Text 32"/>
          <p:cNvSpPr/>
          <p:nvPr/>
        </p:nvSpPr>
        <p:spPr>
          <a:xfrm>
            <a:off x="6583680" y="5303520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10140696" y="2276856"/>
            <a:ext cx="475488" cy="47548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1152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296144" y="2432304"/>
            <a:ext cx="164592" cy="164592"/>
          </a:xfrm>
          <a:prstGeom prst="ellipse">
            <a:avLst/>
          </a:prstGeom>
          <a:solidFill>
            <a:srgbClr val="91152C"/>
          </a:solidFill>
          <a:ln w="12700">
            <a:solidFill>
              <a:srgbClr val="91152C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125712" y="2907792"/>
            <a:ext cx="2542032" cy="2706624"/>
          </a:xfrm>
          <a:prstGeom prst="roundRect">
            <a:avLst>
              <a:gd name="adj" fmla="val 2878"/>
            </a:avLst>
          </a:prstGeom>
          <a:solidFill>
            <a:srgbClr val="F7F8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54312" y="315468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100" dirty="0"/>
          </a:p>
        </p:txBody>
      </p:sp>
      <p:sp>
        <p:nvSpPr>
          <p:cNvPr id="40" name="Text 37"/>
          <p:cNvSpPr/>
          <p:nvPr/>
        </p:nvSpPr>
        <p:spPr>
          <a:xfrm>
            <a:off x="9372600" y="3831336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总结迭代</a:t>
            </a:r>
            <a:endParaRPr lang="en-US" sz="1930" dirty="0"/>
          </a:p>
        </p:txBody>
      </p:sp>
      <p:sp>
        <p:nvSpPr>
          <p:cNvPr id="41" name="Text 38"/>
          <p:cNvSpPr/>
          <p:nvPr/>
        </p:nvSpPr>
        <p:spPr>
          <a:xfrm>
            <a:off x="9372600" y="4425696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9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沉淀成果并提出改进方向。</a:t>
            </a:r>
            <a:endParaRPr lang="en-US" sz="1290" dirty="0"/>
          </a:p>
        </p:txBody>
      </p:sp>
      <p:sp>
        <p:nvSpPr>
          <p:cNvPr id="42" name="Text 39"/>
          <p:cNvSpPr/>
          <p:nvPr/>
        </p:nvSpPr>
        <p:spPr>
          <a:xfrm>
            <a:off x="9372600" y="5303520"/>
            <a:ext cx="1929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12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EDITABLE CHART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数据与结果页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图表为可编辑示例，替换为实际数据后再使用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11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6384" y="1828800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3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指标变化示例</a:t>
            </a:r>
            <a:endParaRPr lang="en-US" sz="1930" dirty="0"/>
          </a:p>
        </p:txBody>
      </p:sp>
      <p:sp>
        <p:nvSpPr>
          <p:cNvPr id="15" name="Text 12"/>
          <p:cNvSpPr/>
          <p:nvPr/>
        </p:nvSpPr>
        <p:spPr>
          <a:xfrm>
            <a:off x="804672" y="2267712"/>
            <a:ext cx="46908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演示数据，仅用于展示图表排版效果</a:t>
            </a:r>
            <a:endParaRPr lang="en-US" sz="118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40664" y="2697480"/>
          <a:ext cx="6967728" cy="31821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8046720" y="1828800"/>
            <a:ext cx="3383280" cy="4151376"/>
          </a:xfrm>
          <a:prstGeom prst="roundRect">
            <a:avLst>
              <a:gd name="adj" fmla="val 2162"/>
            </a:avLst>
          </a:prstGeom>
          <a:solidFill>
            <a:srgbClr val="F8EDF0"/>
          </a:solidFill>
          <a:ln w="12700">
            <a:solidFill>
              <a:srgbClr val="F8EDF0">
                <a:alpha val="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75904" y="2139696"/>
            <a:ext cx="457200" cy="45720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85048" y="2414016"/>
            <a:ext cx="2450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结果解读</a:t>
            </a:r>
            <a:endParaRPr lang="en-US" sz="2050" dirty="0"/>
          </a:p>
        </p:txBody>
      </p:sp>
      <p:sp>
        <p:nvSpPr>
          <p:cNvPr id="20" name="Text 16"/>
          <p:cNvSpPr/>
          <p:nvPr/>
        </p:nvSpPr>
        <p:spPr>
          <a:xfrm>
            <a:off x="8366760" y="3081528"/>
            <a:ext cx="26151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20" b="1" dirty="0">
                <a:solidFill>
                  <a:srgbClr val="911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在这里填写</a:t>
            </a:r>
            <a:endParaRPr lang="en-US" sz="2520" dirty="0"/>
          </a:p>
          <a:p>
            <a:pPr indent="0" marL="0">
              <a:buNone/>
            </a:pPr>
            <a:r>
              <a:rPr lang="en-US" sz="2520" b="1" dirty="0">
                <a:solidFill>
                  <a:srgbClr val="9115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核心数据结论</a:t>
            </a:r>
            <a:endParaRPr lang="en-US" sz="2520" dirty="0"/>
          </a:p>
        </p:txBody>
      </p:sp>
      <p:sp>
        <p:nvSpPr>
          <p:cNvPr id="21" name="Text 17"/>
          <p:cNvSpPr/>
          <p:nvPr/>
        </p:nvSpPr>
        <p:spPr>
          <a:xfrm>
            <a:off x="8385048" y="4809744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建议说明增长趋势、关键差异及其可能原因。请勿将示例数据作为真实结果。</a:t>
            </a:r>
            <a:endParaRPr lang="en-US" sz="12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429768"/>
            <a:ext cx="64008" cy="292608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5256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/ STRUCTURED DATA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0664" y="694944"/>
            <a:ext cx="9875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表格信息页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49808" y="124358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适合指标清单、实验结果、横向对比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0664" y="1545336"/>
            <a:ext cx="10735056" cy="0"/>
          </a:xfrm>
          <a:prstGeom prst="line">
            <a:avLst/>
          </a:prstGeom>
          <a:noFill/>
          <a:ln w="10795">
            <a:solidFill>
              <a:srgbClr val="E5E7EB"/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88" y="3108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0" y="42062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897112" y="640080"/>
            <a:ext cx="19385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spc="20" kern="0" dirty="0">
                <a:solidFill>
                  <a:srgbClr val="687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</a:t>
            </a:r>
            <a:endParaRPr lang="en-US" sz="670" dirty="0"/>
          </a:p>
        </p:txBody>
      </p:sp>
      <p:sp>
        <p:nvSpPr>
          <p:cNvPr id="11" name="Shape 8"/>
          <p:cNvSpPr/>
          <p:nvPr/>
        </p:nvSpPr>
        <p:spPr>
          <a:xfrm>
            <a:off x="740664" y="6483096"/>
            <a:ext cx="1074420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653796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spc="11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  /  PRESENTATION TEMPLATE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10561320" y="65288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" y="1828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1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数据表格模板</a:t>
            </a:r>
            <a:endParaRPr lang="en-US" sz="2010" dirty="0"/>
          </a:p>
        </p:txBody>
      </p:sp>
      <p:sp>
        <p:nvSpPr>
          <p:cNvPr id="15" name="Shape 12"/>
          <p:cNvSpPr/>
          <p:nvPr/>
        </p:nvSpPr>
        <p:spPr>
          <a:xfrm>
            <a:off x="777240" y="2468880"/>
            <a:ext cx="2427732" cy="693115"/>
          </a:xfrm>
          <a:prstGeom prst="rect">
            <a:avLst/>
          </a:prstGeom>
          <a:solidFill>
            <a:srgbClr val="91152C"/>
          </a:solidFill>
          <a:ln w="8890">
            <a:solidFill>
              <a:srgbClr val="9115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2560320"/>
            <a:ext cx="2098548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比较维度</a:t>
            </a:r>
            <a:endParaRPr lang="en-US" sz="1480" dirty="0"/>
          </a:p>
        </p:txBody>
      </p:sp>
      <p:sp>
        <p:nvSpPr>
          <p:cNvPr id="17" name="Shape 14"/>
          <p:cNvSpPr/>
          <p:nvPr/>
        </p:nvSpPr>
        <p:spPr>
          <a:xfrm>
            <a:off x="3218688" y="2468880"/>
            <a:ext cx="2820924" cy="693115"/>
          </a:xfrm>
          <a:prstGeom prst="rect">
            <a:avLst/>
          </a:prstGeom>
          <a:solidFill>
            <a:srgbClr val="91152C"/>
          </a:solidFill>
          <a:ln w="8890">
            <a:solidFill>
              <a:srgbClr val="9115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83280" y="2560320"/>
            <a:ext cx="2555748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A</a:t>
            </a:r>
            <a:endParaRPr lang="en-US" sz="1480" dirty="0"/>
          </a:p>
        </p:txBody>
      </p:sp>
      <p:sp>
        <p:nvSpPr>
          <p:cNvPr id="19" name="Shape 16"/>
          <p:cNvSpPr/>
          <p:nvPr/>
        </p:nvSpPr>
        <p:spPr>
          <a:xfrm>
            <a:off x="6053328" y="2468880"/>
            <a:ext cx="2848356" cy="693115"/>
          </a:xfrm>
          <a:prstGeom prst="rect">
            <a:avLst/>
          </a:prstGeom>
          <a:solidFill>
            <a:srgbClr val="91152C"/>
          </a:solidFill>
          <a:ln w="8890">
            <a:solidFill>
              <a:srgbClr val="9115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0" y="2560320"/>
            <a:ext cx="258318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B</a:t>
            </a:r>
            <a:endParaRPr lang="en-US" sz="1480" dirty="0"/>
          </a:p>
        </p:txBody>
      </p:sp>
      <p:sp>
        <p:nvSpPr>
          <p:cNvPr id="21" name="Shape 18"/>
          <p:cNvSpPr/>
          <p:nvPr/>
        </p:nvSpPr>
        <p:spPr>
          <a:xfrm>
            <a:off x="8915400" y="2468880"/>
            <a:ext cx="2482596" cy="693115"/>
          </a:xfrm>
          <a:prstGeom prst="rect">
            <a:avLst/>
          </a:prstGeom>
          <a:solidFill>
            <a:srgbClr val="91152C"/>
          </a:solidFill>
          <a:ln w="8890">
            <a:solidFill>
              <a:srgbClr val="91152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79992" y="2560320"/>
            <a:ext cx="221742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480" dirty="0"/>
          </a:p>
        </p:txBody>
      </p:sp>
      <p:sp>
        <p:nvSpPr>
          <p:cNvPr id="23" name="Shape 20"/>
          <p:cNvSpPr/>
          <p:nvPr/>
        </p:nvSpPr>
        <p:spPr>
          <a:xfrm>
            <a:off x="777240" y="3172968"/>
            <a:ext cx="2427732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8408" y="3264408"/>
            <a:ext cx="20985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01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3218688" y="3172968"/>
            <a:ext cx="2820924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3264408"/>
            <a:ext cx="25557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6053328" y="3172968"/>
            <a:ext cx="2848356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3264408"/>
            <a:ext cx="25831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8915400" y="3172968"/>
            <a:ext cx="2482596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79992" y="3264408"/>
            <a:ext cx="22174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填写说明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777240" y="3895344"/>
            <a:ext cx="2427732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78408" y="3986784"/>
            <a:ext cx="20985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02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3218688" y="3895344"/>
            <a:ext cx="2820924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83280" y="3986784"/>
            <a:ext cx="25557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053328" y="3895344"/>
            <a:ext cx="2848356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217920" y="3986784"/>
            <a:ext cx="25831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37" name="Shape 34"/>
          <p:cNvSpPr/>
          <p:nvPr/>
        </p:nvSpPr>
        <p:spPr>
          <a:xfrm>
            <a:off x="8915400" y="3895344"/>
            <a:ext cx="2482596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79992" y="3986784"/>
            <a:ext cx="22174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填写说明</a:t>
            </a:r>
            <a:endParaRPr lang="en-US" sz="1220" dirty="0"/>
          </a:p>
        </p:txBody>
      </p:sp>
      <p:sp>
        <p:nvSpPr>
          <p:cNvPr id="39" name="Shape 36"/>
          <p:cNvSpPr/>
          <p:nvPr/>
        </p:nvSpPr>
        <p:spPr>
          <a:xfrm>
            <a:off x="777240" y="4617720"/>
            <a:ext cx="2427732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78408" y="4709160"/>
            <a:ext cx="20985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03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3218688" y="4617720"/>
            <a:ext cx="2820924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383280" y="4709160"/>
            <a:ext cx="25557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43" name="Shape 40"/>
          <p:cNvSpPr/>
          <p:nvPr/>
        </p:nvSpPr>
        <p:spPr>
          <a:xfrm>
            <a:off x="6053328" y="4617720"/>
            <a:ext cx="2848356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0" y="4709160"/>
            <a:ext cx="25831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45" name="Shape 42"/>
          <p:cNvSpPr/>
          <p:nvPr/>
        </p:nvSpPr>
        <p:spPr>
          <a:xfrm>
            <a:off x="8915400" y="4617720"/>
            <a:ext cx="2482596" cy="711403"/>
          </a:xfrm>
          <a:prstGeom prst="rect">
            <a:avLst/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079992" y="4709160"/>
            <a:ext cx="22174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填写说明</a:t>
            </a:r>
            <a:endParaRPr lang="en-US" sz="1220" dirty="0"/>
          </a:p>
        </p:txBody>
      </p:sp>
      <p:sp>
        <p:nvSpPr>
          <p:cNvPr id="47" name="Shape 44"/>
          <p:cNvSpPr/>
          <p:nvPr/>
        </p:nvSpPr>
        <p:spPr>
          <a:xfrm>
            <a:off x="777240" y="5340096"/>
            <a:ext cx="2427732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78408" y="5431536"/>
            <a:ext cx="20985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 04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3218688" y="5340096"/>
            <a:ext cx="2820924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383280" y="5431536"/>
            <a:ext cx="2555748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51" name="Shape 48"/>
          <p:cNvSpPr/>
          <p:nvPr/>
        </p:nvSpPr>
        <p:spPr>
          <a:xfrm>
            <a:off x="6053328" y="5340096"/>
            <a:ext cx="2848356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0" y="5431536"/>
            <a:ext cx="25831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填写数据 / 文本</a:t>
            </a:r>
            <a:endParaRPr lang="en-US" sz="1220" dirty="0"/>
          </a:p>
        </p:txBody>
      </p:sp>
      <p:sp>
        <p:nvSpPr>
          <p:cNvPr id="53" name="Shape 50"/>
          <p:cNvSpPr/>
          <p:nvPr/>
        </p:nvSpPr>
        <p:spPr>
          <a:xfrm>
            <a:off x="8915400" y="5340096"/>
            <a:ext cx="2482596" cy="711403"/>
          </a:xfrm>
          <a:prstGeom prst="rect">
            <a:avLst/>
          </a:prstGeom>
          <a:solidFill>
            <a:srgbClr val="F8F8F9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079992" y="5431536"/>
            <a:ext cx="221742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填写说明</a:t>
            </a:r>
            <a:endParaRPr lang="en-US" sz="1220" dirty="0"/>
          </a:p>
        </p:txBody>
      </p:sp>
      <p:sp>
        <p:nvSpPr>
          <p:cNvPr id="55" name="Text 52"/>
          <p:cNvSpPr/>
          <p:nvPr/>
        </p:nvSpPr>
        <p:spPr>
          <a:xfrm>
            <a:off x="795528" y="616305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注：此处为可编辑的表格版式，文字和单元格可根据内容调整。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2" y="0"/>
            <a:ext cx="3657600" cy="6858000"/>
          </a:xfrm>
          <a:prstGeom prst="rect">
            <a:avLst/>
          </a:prstGeom>
          <a:solidFill>
            <a:srgbClr val="91152C"/>
          </a:solidFill>
          <a:ln w="12700">
            <a:solidFill>
              <a:srgbClr val="91152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54112" y="1033272"/>
            <a:ext cx="4846320" cy="4846320"/>
          </a:xfrm>
          <a:prstGeom prst="ellipse">
            <a:avLst/>
          </a:prstGeom>
          <a:solidFill>
            <a:srgbClr val="91152C">
              <a:alpha val="0"/>
            </a:srgbClr>
          </a:solidFill>
          <a:ln w="15240">
            <a:solidFill>
              <a:srgbClr val="C65A70">
                <a:alpha val="4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94192" y="1664208"/>
            <a:ext cx="3584448" cy="3584448"/>
          </a:xfrm>
          <a:prstGeom prst="ellipse">
            <a:avLst/>
          </a:prstGeom>
          <a:solidFill>
            <a:srgbClr val="91152C">
              <a:alpha val="0"/>
            </a:srgbClr>
          </a:solidFill>
          <a:ln w="12700">
            <a:solidFill>
              <a:srgbClr val="C65A70">
                <a:alpha val="3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43416" y="2331720"/>
            <a:ext cx="2286000" cy="2286000"/>
          </a:xfrm>
          <a:prstGeom prst="ellipse">
            <a:avLst/>
          </a:prstGeom>
          <a:solidFill>
            <a:srgbClr val="91152C">
              <a:alpha val="0"/>
            </a:srgbClr>
          </a:solidFill>
          <a:ln w="12700">
            <a:solidFill>
              <a:srgbClr val="C65A70">
                <a:alpha val="32000"/>
              </a:srgbClr>
            </a:solidFill>
            <a:prstDash val="solid"/>
          </a:ln>
        </p:spPr>
      </p:sp>
      <p:pic>
        <p:nvPicPr>
          <p:cNvPr id="8" name="Image 0" descr="/mnt/data/workppt/seal_circ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539496"/>
            <a:ext cx="676656" cy="6766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722376"/>
            <a:ext cx="3291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7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上海理工大学</a:t>
            </a:r>
            <a:endParaRPr lang="en-US" sz="1970" dirty="0"/>
          </a:p>
        </p:txBody>
      </p:sp>
      <p:sp>
        <p:nvSpPr>
          <p:cNvPr id="10" name="Text 7"/>
          <p:cNvSpPr/>
          <p:nvPr/>
        </p:nvSpPr>
        <p:spPr>
          <a:xfrm>
            <a:off x="768096" y="2039112"/>
            <a:ext cx="6656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B51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0664" y="2743200"/>
            <a:ext cx="6647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028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000" dirty="0"/>
          </a:p>
        </p:txBody>
      </p:sp>
      <p:sp>
        <p:nvSpPr>
          <p:cNvPr id="12" name="Shape 9"/>
          <p:cNvSpPr/>
          <p:nvPr/>
        </p:nvSpPr>
        <p:spPr>
          <a:xfrm>
            <a:off x="786384" y="4005072"/>
            <a:ext cx="950976" cy="54864"/>
          </a:xfrm>
          <a:prstGeom prst="rect">
            <a:avLst/>
          </a:prstGeom>
          <a:solidFill>
            <a:srgbClr val="B51C38"/>
          </a:solidFill>
          <a:ln w="12700">
            <a:solidFill>
              <a:srgbClr val="B51C3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" y="4370832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欢迎提问与交流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804672" y="581558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873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汇报人：[姓名]      联系方式：[选填]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86384" y="6473952"/>
            <a:ext cx="7406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spc="100" kern="0" dirty="0">
                <a:solidFill>
                  <a:srgbClr val="A5A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SHANGHAI FOR SCIENCE AND TECHNOLOGY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9363456" y="544982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50" b="1" spc="200" kern="0" dirty="0">
                <a:solidFill>
                  <a:srgbClr val="D58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USST</a:t>
            </a:r>
            <a:endParaRPr lang="en-US" sz="3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USST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上海理工大学 PPT 优化模板</dc:title>
  <dc:subject>上海理工大学学术汇报通用模板（优化版）</dc:subject>
  <dc:creator>OpenAI</dc:creator>
  <cp:lastModifiedBy>OpenAI</cp:lastModifiedBy>
  <cp:revision>1</cp:revision>
  <dcterms:created xsi:type="dcterms:W3CDTF">2026-10-13T11:35:31Z</dcterms:created>
  <dcterms:modified xsi:type="dcterms:W3CDTF">2026-10-13T11:35:31Z</dcterms:modified>
</cp:coreProperties>
</file>